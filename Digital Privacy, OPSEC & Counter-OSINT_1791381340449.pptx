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9A003-C790-4C01-B66B-39CC6B6BA55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EB539-6758-49CB-807C-583BE60C0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3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Pacing: 75 seconds. Stress that these are allegations described by the FTC, not a general measure of every broker. The FTC said location data tied to sensitive places could expose health decisions, religious practices, and political activity; this makes the privacy question concrete.</a:t>
            </a:r>
          </a:p>
          <a:p>
            <a:endParaRPr/>
          </a:p>
          <a:p>
            <a:r>
              <a:t>Sources:</a:t>
            </a:r>
          </a:p>
          <a:p>
            <a:r>
              <a:t>- FTC, Gravy Analytics and Venntel location-data enforcement announcement (2024-12) — https://www.ftc.gov/news-events/news/press-releases/2024/12/ftc-takes-action-against-gravy-analytics-venntel-unlawfully-selling-location-data-tracking-consumers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Pacing: 80 seconds. Explain these as mechanisms, not guaranteed outcomes. FTC enforcement describes location data linked to sensitive places; Microsoft reports that adversaries research targets and use social engineering. A published clue can be copied, cached, and joined with other records, so deleting the original may not undo every copy.</a:t>
            </a:r>
          </a:p>
          <a:p>
            <a:endParaRPr/>
          </a:p>
          <a:p>
            <a:r>
              <a:t>Sources:</a:t>
            </a:r>
          </a:p>
          <a:p>
            <a:r>
              <a:t>- FTC, Gravy Analytics and Venntel location-data enforcement announcement (2024-12) — https://www.ftc.gov/news-events/news/press-releases/2024/12/ftc-takes-action-against-gravy-analytics-venntel-unlawfully-selling-location-data-tracking-consumers</a:t>
            </a:r>
          </a:p>
          <a:p>
            <a:r>
              <a:t>- Microsoft Digital Defense Report 2024 (2024-10) — https://cdn-dynmedia-1.microsoft.com/is/content/microsoftcorp/microsoft/final/en-us/microsoft-brand/documents/Microsoft%20Digital%20Defense%20Report%202024%20%281%29.pdf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Pacing: 70 seconds. Privacy and anonymity overlap but are not interchangeable: encrypted content may still leave metadata, and anonymous browsing does not protect data you disclose in an account. Threat-model by asset, adversary capability, and consequence; avoid claiming protection from every actor.</a:t>
            </a:r>
          </a:p>
          <a:p>
            <a:endParaRPr/>
          </a:p>
          <a:p>
            <a:r>
              <a:t>Sources:</a:t>
            </a:r>
          </a:p>
          <a:p>
            <a:r>
              <a:t>- Microsoft Digital Defense Report 2024 (2024-10) — https://cdn-dynmedia-1.microsoft.com/is/content/microsoftcorp/microsoft/final/en-us/microsoft-brand/documents/Microsoft%20Digital%20Defense%20Report%202024%20%281%29.pdf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Pacing: 75 seconds. Be honest about trade-offs: a VPN relocates trust rather than removing it; Tor is stronger against correlation but slower. Mullvad Browser is for blending in on the clearnet. Mention DNS-over-HTTPS and disabling WebRTC as concrete leak-prevention steps.</a:t>
            </a:r>
          </a:p>
          <a:p>
            <a:endParaRPr/>
          </a:p>
          <a:p>
            <a:r>
              <a:t>Sources:</a:t>
            </a:r>
          </a:p>
          <a:p>
            <a:r>
              <a:t>- Mullvad Browser (2026) — https://mullvad.net/en/browser</a:t>
            </a:r>
          </a:p>
          <a:p>
            <a:r>
              <a:t>- Tor Project official guidance (via Privacy Guides discussion) (2024) — https://discuss.privacyguides.net/t/should-i-use-tor-over-a-vpn-or-simply-use-a-bridge/32922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Pacing: 70 seconds. Frame as escalating levels of isolation, not a required ladder — the harder the isolation, the more friction. Whonix routes all workstation traffic through a Tor gateway; Tails is amnesic and boots from USB. The core principle: contexts never share cookies, credentials, or network identity.</a:t>
            </a:r>
          </a:p>
          <a:p>
            <a:endParaRPr/>
          </a:p>
          <a:p>
            <a:r>
              <a:t>Sources:</a:t>
            </a:r>
          </a:p>
          <a:p>
            <a:r>
              <a:t>- Whonix Documentation: Comparison with Others (2026-05) — https://www.whonix.org/wiki/Comparison_with_Others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Pacing: 70 seconds. Fingerprinting works because browsers are slightly different; the 2018 study found 33.6% unique fingerprints in one dataset and 89.4% in another. Private mode does not change the fingerprint. Uniformity is the defense offered by Tor Browser and Mullvad Browser.</a:t>
            </a:r>
          </a:p>
          <a:p>
            <a:endParaRPr/>
          </a:p>
          <a:p>
            <a:r>
              <a:t>Sources:</a:t>
            </a:r>
          </a:p>
          <a:p>
            <a:r>
              <a:t>- Gómez-Boix et al., 'An Analysis of the Effectiveness of Browser Fingerprinting' (WWW '18) (2018) — https://dl.acm.org/doi/fullHtml/10.1145/3178876.3186097</a:t>
            </a:r>
          </a:p>
          <a:p>
            <a:r>
              <a:t>- EFF Cover Your Tracks (2026) — https://coveryourtracks.eff.org/</a:t>
            </a:r>
          </a:p>
          <a:p>
            <a:r>
              <a:t>- Mullvad Browser (2026) — https://mullvad.net/en/browser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Distinguish model training from service retention: provider policies and controls vary, so verify settings for the specific product. Local inference can reduce third-party exposure, but it does not secure a compromised device or automatically prevent logging; prompt injection is a risk whenever models process untrusted content or have tool access.</a:t>
            </a:r>
          </a:p>
          <a:p>
            <a:endParaRPr/>
          </a:p>
          <a:p>
            <a:r>
              <a:t>Sources:</a:t>
            </a:r>
          </a:p>
          <a:p>
            <a:r>
              <a:t>- OpenAI Privacy Policy (n.d.) — https://openai.com/policies/privacy-policy/</a:t>
            </a:r>
          </a:p>
          <a:p>
            <a:r>
              <a:t>- Ollama Documentation (n.d.) — https://docs.ollama.com/</a:t>
            </a:r>
          </a:p>
          <a:p>
            <a:r>
              <a:t>- OWASP GenAI Security Project — Prompt Injection (n.d.) — https://genai.owasp.org/llmrisk/llm01-prompt-injection/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that AI-assisted matching can produce false positives and should not be treated as definitive identification. PimEyes is an example of face-search technology, not a guarantee that every image can be found. Defensive measures focus on reducing exposed signals and independently verifying high-impact claims.</a:t>
            </a:r>
          </a:p>
          <a:p>
            <a:endParaRPr/>
          </a:p>
          <a:p>
            <a:r>
              <a:t>Sources:</a:t>
            </a:r>
          </a:p>
          <a:p>
            <a:r>
              <a:t>- PimEyes (n.d.) — https://pimeyes.com/en</a:t>
            </a:r>
          </a:p>
          <a:p>
            <a:r>
              <a:t>- NIST Face Recognition Technology (n.d.) — https://www.nist.gov/itl/iad/image-group/face-recognition-technology-frt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7f70610f36c7ab169e9ddaf7c3c6bf29.png"/>
          <p:cNvPicPr>
            <a:picLocks noChangeAspect="1"/>
          </p:cNvPicPr>
          <p:nvPr/>
        </p:nvPicPr>
        <p:blipFill>
          <a:blip r:embed="rId2"/>
          <a:srcRect l="8780" r="8780"/>
          <a:stretch>
            <a:fillRect/>
          </a:stretch>
        </p:blipFill>
        <p:spPr>
          <a:xfrm>
            <a:off x="6537960" y="0"/>
            <a:ext cx="565373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37960" y="0"/>
            <a:ext cx="109728" cy="6858000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615036"/>
            <a:ext cx="5212080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200" b="1" dirty="0">
                <a:solidFill>
                  <a:srgbClr val="5EA0F2"/>
                </a:solidFill>
                <a:latin typeface="Vazirmatn"/>
                <a:ea typeface="Vazirmatn"/>
                <a:cs typeface="Vazirmatn"/>
              </a:rPr>
              <a:t>Mohammad </a:t>
            </a:r>
            <a:r>
              <a:rPr lang="en-US" sz="1200" b="1" dirty="0" err="1">
                <a:solidFill>
                  <a:srgbClr val="5EA0F2"/>
                </a:solidFill>
                <a:latin typeface="Vazirmatn"/>
                <a:ea typeface="Vazirmatn"/>
                <a:cs typeface="Vazirmatn"/>
              </a:rPr>
              <a:t>Abbasnejad</a:t>
            </a:r>
            <a:endParaRPr sz="1200" b="1" dirty="0">
              <a:solidFill>
                <a:srgbClr val="5EA0F2"/>
              </a:solidFill>
              <a:latin typeface="Vazirmatn"/>
              <a:ea typeface="Vazirmatn"/>
              <a:cs typeface="Vazirmat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257800" cy="2057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9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Digital Privacy, OPSEC &amp; AI-Era OSINT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dirty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176272" cy="310896"/>
          </a:xfrm>
          <a:prstGeom prst="roundRect">
            <a:avLst>
              <a:gd name="adj" fmla="val 18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52628"/>
            <a:ext cx="21762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5EA0F2"/>
                </a:solidFill>
                <a:latin typeface="Vazirmatn"/>
                <a:ea typeface="Vazirmatn"/>
                <a:cs typeface="Vazirmatn"/>
              </a:rPr>
              <a:t>WHY SHOULD WE EVEN CARE?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9536"/>
            <a:ext cx="1054577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Your Data Is Already a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594360" cy="45720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907024"/>
            <a:ext cx="10545775" cy="566928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icky_note_2_5EA0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6053328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5907024"/>
            <a:ext cx="963137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Exposure can become a safety issue—not just an advertising preference.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76856"/>
            <a:ext cx="527288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>
                <a:solidFill>
                  <a:srgbClr val="5EA0F2"/>
                </a:solidFill>
                <a:latin typeface="Vazirmatn"/>
                <a:ea typeface="Vazirmatn"/>
                <a:cs typeface="Vazirmatn"/>
              </a:rPr>
              <a:t>17B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65576"/>
            <a:ext cx="47242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location signals per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22776"/>
            <a:ext cx="472424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FTC complaint: alleged volume processed by Gravy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2276856"/>
            <a:ext cx="527288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~1B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3465576"/>
            <a:ext cx="472424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mobile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3922776"/>
            <a:ext cx="4724247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FTC complaint: alleged location-data scale</a:t>
            </a:r>
          </a:p>
        </p:txBody>
      </p:sp>
      <p:sp>
        <p:nvSpPr>
          <p:cNvPr id="17" name="Oval 16"/>
          <p:cNvSpPr/>
          <p:nvPr/>
        </p:nvSpPr>
        <p:spPr>
          <a:xfrm>
            <a:off x="2029968" y="4718304"/>
            <a:ext cx="91440" cy="91440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22576" y="4608576"/>
            <a:ext cx="78574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Trails can reveal visits to medical, religious, and political sites.</a:t>
            </a:r>
          </a:p>
        </p:txBody>
      </p:sp>
      <p:sp>
        <p:nvSpPr>
          <p:cNvPr id="19" name="Oval 18"/>
          <p:cNvSpPr/>
          <p:nvPr/>
        </p:nvSpPr>
        <p:spPr>
          <a:xfrm>
            <a:off x="2029968" y="5102352"/>
            <a:ext cx="91440" cy="91440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22576" y="4992624"/>
            <a:ext cx="78574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The FTC alleged these data were sold and could identify consumers.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2176272" cy="310896"/>
          </a:xfrm>
          <a:prstGeom prst="roundRect">
            <a:avLst>
              <a:gd name="adj" fmla="val 18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52628"/>
            <a:ext cx="21762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5EA0F2"/>
                </a:solidFill>
                <a:latin typeface="Vazirmatn"/>
                <a:ea typeface="Vazirmatn"/>
                <a:cs typeface="Vazirmatn"/>
              </a:rPr>
              <a:t>WHY SHOULD WE EVEN CARE?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9536"/>
            <a:ext cx="1054577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Five Ways Leaked Data Becomes Real Harm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594360" cy="45720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3</a:t>
            </a:r>
          </a:p>
        </p:txBody>
      </p:sp>
      <p:pic>
        <p:nvPicPr>
          <p:cNvPr id="8" name="Picture 7" descr="security_5EA0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07692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81912" y="2107692"/>
            <a:ext cx="239054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Identity theft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546604"/>
            <a:ext cx="239054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Exposed identifiers can aid impersonation and account-recovery fraud.</a:t>
            </a:r>
          </a:p>
        </p:txBody>
      </p:sp>
      <p:pic>
        <p:nvPicPr>
          <p:cNvPr id="11" name="Picture 10" descr="public_5EA0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098" y="2107692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80050" y="2107692"/>
            <a:ext cx="239054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Data brokers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0050" y="2546604"/>
            <a:ext cx="239054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Location and activity records can be aggregated, sold, and repurposed.</a:t>
            </a:r>
          </a:p>
        </p:txBody>
      </p:sp>
      <p:pic>
        <p:nvPicPr>
          <p:cNvPr id="14" name="Picture 13" descr="psychology_5EA0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236" y="2107692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78188" y="2107692"/>
            <a:ext cx="239054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Targeted social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8188" y="2546604"/>
            <a:ext cx="239054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Personal details make believable pretexts easier to build.</a:t>
            </a:r>
          </a:p>
        </p:txBody>
      </p:sp>
      <p:pic>
        <p:nvPicPr>
          <p:cNvPr id="17" name="Picture 16" descr="visibility_5EA0F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10812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81912" y="4210812"/>
            <a:ext cx="239054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Profiling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649724"/>
            <a:ext cx="239054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Routine signals can infer interests, routines, and sensitive affiliations.</a:t>
            </a:r>
          </a:p>
        </p:txBody>
      </p:sp>
      <p:pic>
        <p:nvPicPr>
          <p:cNvPr id="20" name="Picture 19" descr="layers_5EA0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098" y="4210812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80050" y="4210812"/>
            <a:ext cx="239054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Irreversibility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0050" y="4649724"/>
            <a:ext cx="239054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Copied or linked information may persist after the original is deleted.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1554480" cy="310896"/>
          </a:xfrm>
          <a:prstGeom prst="roundRect">
            <a:avLst>
              <a:gd name="adj" fmla="val 18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52628"/>
            <a:ext cx="155448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5EA0F2"/>
                </a:solidFill>
                <a:latin typeface="Vazirmatn"/>
                <a:ea typeface="Vazirmatn"/>
                <a:cs typeface="Vazirmatn"/>
              </a:rPr>
              <a:t>OPSEC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9536"/>
            <a:ext cx="1054577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Privacy ≠ Anonymity — Know Your Threat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594360" cy="45720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66544"/>
            <a:ext cx="5090007" cy="3739896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9525">
            <a:solidFill>
              <a:srgbClr val="2A334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88720" y="2450592"/>
            <a:ext cx="365760" cy="50292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615184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Privacy</a:t>
            </a:r>
          </a:p>
        </p:txBody>
      </p:sp>
      <p:sp>
        <p:nvSpPr>
          <p:cNvPr id="11" name="Oval 10"/>
          <p:cNvSpPr/>
          <p:nvPr/>
        </p:nvSpPr>
        <p:spPr>
          <a:xfrm>
            <a:off x="1207008" y="3813048"/>
            <a:ext cx="91440" cy="91440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99616" y="3703320"/>
            <a:ext cx="40475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Control who can access your information and activity.</a:t>
            </a:r>
          </a:p>
        </p:txBody>
      </p:sp>
      <p:sp>
        <p:nvSpPr>
          <p:cNvPr id="13" name="Oval 12"/>
          <p:cNvSpPr/>
          <p:nvPr/>
        </p:nvSpPr>
        <p:spPr>
          <a:xfrm>
            <a:off x="1207008" y="4526280"/>
            <a:ext cx="91440" cy="91440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9616" y="4416552"/>
            <a:ext cx="40475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Examples: end-to-end encryption, data minimization, restrictive sharing.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066544"/>
            <a:ext cx="5090007" cy="3739896"/>
          </a:xfrm>
          <a:prstGeom prst="roundRect">
            <a:avLst>
              <a:gd name="adj" fmla="val 10000"/>
            </a:avLst>
          </a:prstGeom>
          <a:solidFill>
            <a:srgbClr val="212A3D"/>
          </a:solidFill>
          <a:ln w="9525">
            <a:solidFill>
              <a:srgbClr val="2A334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44487" y="2450592"/>
            <a:ext cx="365760" cy="50292"/>
          </a:xfrm>
          <a:prstGeom prst="rect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44487" y="2615184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Anonymity</a:t>
            </a:r>
          </a:p>
        </p:txBody>
      </p:sp>
      <p:sp>
        <p:nvSpPr>
          <p:cNvPr id="18" name="Oval 17"/>
          <p:cNvSpPr/>
          <p:nvPr/>
        </p:nvSpPr>
        <p:spPr>
          <a:xfrm>
            <a:off x="6662775" y="3813048"/>
            <a:ext cx="91440" cy="91440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55383" y="3703320"/>
            <a:ext cx="40475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Reduce how readily activity can be linked to your real identity.</a:t>
            </a:r>
          </a:p>
        </p:txBody>
      </p:sp>
      <p:sp>
        <p:nvSpPr>
          <p:cNvPr id="20" name="Oval 19"/>
          <p:cNvSpPr/>
          <p:nvPr/>
        </p:nvSpPr>
        <p:spPr>
          <a:xfrm>
            <a:off x="6662775" y="4526280"/>
            <a:ext cx="91440" cy="91440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55383" y="4416552"/>
            <a:ext cx="40475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Examples: separate personas, reduce identifiers, avoid cross-context logins.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989320"/>
            <a:ext cx="10545775" cy="548640"/>
          </a:xfrm>
          <a:prstGeom prst="roundRect">
            <a:avLst>
              <a:gd name="adj" fmla="val 30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88720" y="5989320"/>
            <a:ext cx="981425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Start with: who are you protecting against, what do they know, and what harm matters most?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1476756" cy="310896"/>
          </a:xfrm>
          <a:prstGeom prst="roundRect">
            <a:avLst>
              <a:gd name="adj" fmla="val 18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52628"/>
            <a:ext cx="147675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5EA0F2"/>
                </a:solidFill>
                <a:latin typeface="Vazirmatn"/>
                <a:ea typeface="Vazirmatn"/>
                <a:cs typeface="Vazirmatn"/>
              </a:rPr>
              <a:t>NETWORK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9536"/>
            <a:ext cx="1054577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VPN, Tor, Mullvad: Pick the Right Pipe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594360" cy="45720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2939796"/>
            <a:ext cx="475488" cy="50292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hield_5EA0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268980"/>
            <a:ext cx="548640" cy="548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24128" y="3991356"/>
            <a:ext cx="29178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VPN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604004"/>
            <a:ext cx="291785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Shifts trust from your ISP to the provider. Prefer audited, RAM-only, no-logs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9450" y="2939796"/>
            <a:ext cx="9525" cy="2542032"/>
          </a:xfrm>
          <a:prstGeom prst="rect">
            <a:avLst/>
          </a:prstGeom>
          <a:solidFill>
            <a:srgbClr val="2A33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36922" y="2939796"/>
            <a:ext cx="475488" cy="50292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public_5EA0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922" y="3268980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36922" y="3991356"/>
            <a:ext cx="29178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922" y="4604004"/>
            <a:ext cx="291785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Stronger anonymity, slower, sometimes blocked. Avoid casual VPN+Tor stacking.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2244" y="2939796"/>
            <a:ext cx="9525" cy="2542032"/>
          </a:xfrm>
          <a:prstGeom prst="rect">
            <a:avLst/>
          </a:prstGeom>
          <a:solidFill>
            <a:srgbClr val="2A33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9716" y="2939796"/>
            <a:ext cx="475488" cy="50292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link_5EA0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9716" y="3268980"/>
            <a:ext cx="548640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49716" y="3991356"/>
            <a:ext cx="291785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Mullvad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9716" y="4604004"/>
            <a:ext cx="291785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Fingerprint-uniform browser built with the Tor Project — for everyday browsing.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1943100" cy="310896"/>
          </a:xfrm>
          <a:prstGeom prst="roundRect">
            <a:avLst>
              <a:gd name="adj" fmla="val 18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52628"/>
            <a:ext cx="194310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5EA0F2"/>
                </a:solidFill>
                <a:latin typeface="Vazirmatn"/>
                <a:ea typeface="Vazirmatn"/>
                <a:cs typeface="Vazirmatn"/>
              </a:rPr>
              <a:t>ENVIRONMENT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9536"/>
            <a:ext cx="1054577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Compartmentalize: Never Mix Contexts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594360" cy="45720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10612"/>
            <a:ext cx="2444419" cy="32004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9525">
            <a:solidFill>
              <a:srgbClr val="2A334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" y="2930652"/>
            <a:ext cx="502920" cy="502920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948940"/>
            <a:ext cx="502920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B0F18"/>
                </a:solidFill>
                <a:latin typeface="Vazirmatn"/>
                <a:ea typeface="Vazirmatn"/>
                <a:cs typeface="Vazirmat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62172"/>
            <a:ext cx="18957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Everyday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9412"/>
            <a:ext cx="18957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Separate browsers and profiles; enough for everyday persona separation.</a:t>
            </a:r>
          </a:p>
        </p:txBody>
      </p:sp>
      <p:sp>
        <p:nvSpPr>
          <p:cNvPr id="13" name="Chevron 12"/>
          <p:cNvSpPr/>
          <p:nvPr/>
        </p:nvSpPr>
        <p:spPr>
          <a:xfrm>
            <a:off x="3303955" y="4128516"/>
            <a:ext cx="182880" cy="164592"/>
          </a:xfrm>
          <a:prstGeom prst="chevron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23411" y="2610612"/>
            <a:ext cx="2444419" cy="3200400"/>
          </a:xfrm>
          <a:prstGeom prst="roundRect">
            <a:avLst>
              <a:gd name="adj" fmla="val 10000"/>
            </a:avLst>
          </a:prstGeom>
          <a:solidFill>
            <a:srgbClr val="212A3D"/>
          </a:solidFill>
          <a:ln w="9525">
            <a:solidFill>
              <a:srgbClr val="2A334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97731" y="2930652"/>
            <a:ext cx="502920" cy="502920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97731" y="2948940"/>
            <a:ext cx="502920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B0F18"/>
                </a:solidFill>
                <a:latin typeface="Vazirmatn"/>
                <a:ea typeface="Vazirmatn"/>
                <a:cs typeface="Vazirmat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7731" y="3662172"/>
            <a:ext cx="18957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Isolated VMs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7731" y="4439412"/>
            <a:ext cx="18957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One VM per persona; the host's identity stays outside the VM.</a:t>
            </a:r>
          </a:p>
        </p:txBody>
      </p:sp>
      <p:sp>
        <p:nvSpPr>
          <p:cNvPr id="19" name="Chevron 18"/>
          <p:cNvSpPr/>
          <p:nvPr/>
        </p:nvSpPr>
        <p:spPr>
          <a:xfrm>
            <a:off x="6004406" y="4128516"/>
            <a:ext cx="182880" cy="164592"/>
          </a:xfrm>
          <a:prstGeom prst="chevron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23862" y="2610612"/>
            <a:ext cx="2444419" cy="32004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9525">
            <a:solidFill>
              <a:srgbClr val="2A334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98182" y="2930652"/>
            <a:ext cx="502920" cy="502920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8182" y="2948940"/>
            <a:ext cx="502920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B0F18"/>
                </a:solidFill>
                <a:latin typeface="Vazirmatn"/>
                <a:ea typeface="Vazirmatn"/>
                <a:cs typeface="Vazirmatn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8182" y="3662172"/>
            <a:ext cx="18957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Whonix (VM)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2" y="4439412"/>
            <a:ext cx="18957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All workstation traffic routed through a Tor gateway VM.</a:t>
            </a:r>
          </a:p>
        </p:txBody>
      </p:sp>
      <p:sp>
        <p:nvSpPr>
          <p:cNvPr id="25" name="Chevron 24"/>
          <p:cNvSpPr/>
          <p:nvPr/>
        </p:nvSpPr>
        <p:spPr>
          <a:xfrm>
            <a:off x="8704857" y="4128516"/>
            <a:ext cx="182880" cy="164592"/>
          </a:xfrm>
          <a:prstGeom prst="chevron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24313" y="2610612"/>
            <a:ext cx="2444419" cy="3200400"/>
          </a:xfrm>
          <a:prstGeom prst="roundRect">
            <a:avLst>
              <a:gd name="adj" fmla="val 10000"/>
            </a:avLst>
          </a:prstGeom>
          <a:solidFill>
            <a:srgbClr val="212A3D"/>
          </a:solidFill>
          <a:ln w="9525">
            <a:solidFill>
              <a:srgbClr val="2A334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98633" y="2930652"/>
            <a:ext cx="502920" cy="502920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98633" y="2948940"/>
            <a:ext cx="502920" cy="466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B0F18"/>
                </a:solidFill>
                <a:latin typeface="Vazirmatn"/>
                <a:ea typeface="Vazirmatn"/>
                <a:cs typeface="Vazirmatn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633" y="3662172"/>
            <a:ext cx="18957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Tails (live USB)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633" y="4439412"/>
            <a:ext cx="18957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Live, amnesic system; leaves no trace on the host disk.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38912"/>
            <a:ext cx="1399032" cy="310896"/>
          </a:xfrm>
          <a:prstGeom prst="roundRect">
            <a:avLst>
              <a:gd name="adj" fmla="val 18000"/>
            </a:avLst>
          </a:prstGeom>
          <a:solidFill>
            <a:srgbClr val="1E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52628"/>
            <a:ext cx="139903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5EA0F2"/>
                </a:solidFill>
                <a:latin typeface="Vazirmatn"/>
                <a:ea typeface="Vazirmatn"/>
                <a:cs typeface="Vazirmatn"/>
              </a:rPr>
              <a:t>FINGERPRINTING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59536"/>
            <a:ext cx="1054577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Your Browser Fingerprint Gives You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594360" cy="45720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20095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66544"/>
            <a:ext cx="5090007" cy="42062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9525">
            <a:solidFill>
              <a:srgbClr val="2A334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88720" y="2450592"/>
            <a:ext cx="365760" cy="50292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615184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What makes you unique</a:t>
            </a:r>
          </a:p>
        </p:txBody>
      </p:sp>
      <p:sp>
        <p:nvSpPr>
          <p:cNvPr id="11" name="Oval 10"/>
          <p:cNvSpPr/>
          <p:nvPr/>
        </p:nvSpPr>
        <p:spPr>
          <a:xfrm>
            <a:off x="1207008" y="3689604"/>
            <a:ext cx="91440" cy="91440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99616" y="3579876"/>
            <a:ext cx="40475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Canvas, WebGL, and audio rendering results.</a:t>
            </a:r>
          </a:p>
        </p:txBody>
      </p:sp>
      <p:sp>
        <p:nvSpPr>
          <p:cNvPr id="13" name="Oval 12"/>
          <p:cNvSpPr/>
          <p:nvPr/>
        </p:nvSpPr>
        <p:spPr>
          <a:xfrm>
            <a:off x="1207008" y="4402836"/>
            <a:ext cx="91440" cy="91440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9616" y="4293108"/>
            <a:ext cx="40475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Installed fonts, plugins, screen size, and time zone.</a:t>
            </a:r>
          </a:p>
        </p:txBody>
      </p:sp>
      <p:sp>
        <p:nvSpPr>
          <p:cNvPr id="15" name="Oval 14"/>
          <p:cNvSpPr/>
          <p:nvPr/>
        </p:nvSpPr>
        <p:spPr>
          <a:xfrm>
            <a:off x="1207008" y="5116068"/>
            <a:ext cx="91440" cy="91440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99616" y="5006340"/>
            <a:ext cx="40475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User-agent, OS, and extension combinations.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2066544"/>
            <a:ext cx="5090007" cy="42062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9525">
            <a:solidFill>
              <a:srgbClr val="2A334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44487" y="2450592"/>
            <a:ext cx="365760" cy="50292"/>
          </a:xfrm>
          <a:prstGeom prst="rect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44487" y="2615184"/>
            <a:ext cx="43584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How to reduce it</a:t>
            </a:r>
          </a:p>
        </p:txBody>
      </p:sp>
      <p:sp>
        <p:nvSpPr>
          <p:cNvPr id="20" name="Oval 19"/>
          <p:cNvSpPr/>
          <p:nvPr/>
        </p:nvSpPr>
        <p:spPr>
          <a:xfrm>
            <a:off x="6662775" y="3410712"/>
            <a:ext cx="91440" cy="91440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55383" y="3300984"/>
            <a:ext cx="4047591" cy="6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Use Tor Browser for anonymity routing and a uniform fingerprint.</a:t>
            </a:r>
          </a:p>
        </p:txBody>
      </p:sp>
      <p:sp>
        <p:nvSpPr>
          <p:cNvPr id="22" name="Oval 21"/>
          <p:cNvSpPr/>
          <p:nvPr/>
        </p:nvSpPr>
        <p:spPr>
          <a:xfrm>
            <a:off x="6662775" y="4085082"/>
            <a:ext cx="91440" cy="91440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55383" y="3975354"/>
            <a:ext cx="4047591" cy="6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Use Mullvad Browser for everyday browsing with uniform settings.</a:t>
            </a:r>
          </a:p>
        </p:txBody>
      </p:sp>
      <p:sp>
        <p:nvSpPr>
          <p:cNvPr id="24" name="Oval 23"/>
          <p:cNvSpPr/>
          <p:nvPr/>
        </p:nvSpPr>
        <p:spPr>
          <a:xfrm>
            <a:off x="6662775" y="4759452"/>
            <a:ext cx="91440" cy="91440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55383" y="4649724"/>
            <a:ext cx="4047591" cy="6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Avoid many extensions or deep customization.</a:t>
            </a:r>
          </a:p>
        </p:txBody>
      </p:sp>
      <p:sp>
        <p:nvSpPr>
          <p:cNvPr id="26" name="Oval 25"/>
          <p:cNvSpPr/>
          <p:nvPr/>
        </p:nvSpPr>
        <p:spPr>
          <a:xfrm>
            <a:off x="6662775" y="5433822"/>
            <a:ext cx="91440" cy="91440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55383" y="5324094"/>
            <a:ext cx="4047591" cy="6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Test at EFF Cover Your Tracks: coveryourtracks.eff.org.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1054577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Privacy in the Age of Generative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43584"/>
            <a:ext cx="594360" cy="45720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08176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Treat every AI interaction as a potential data disclosure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8</a:t>
            </a:r>
          </a:p>
        </p:txBody>
      </p:sp>
      <p:pic>
        <p:nvPicPr>
          <p:cNvPr id="7" name="Picture 6" descr="chat_bubble_5EA0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2598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81912" y="2125980"/>
            <a:ext cx="239054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Prompts are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564892"/>
            <a:ext cx="239054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Keep secrets, client records, and identifying details out of public assistants.</a:t>
            </a:r>
          </a:p>
        </p:txBody>
      </p:sp>
      <p:pic>
        <p:nvPicPr>
          <p:cNvPr id="10" name="Picture 9" descr="layers_5EA0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098" y="212598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80050" y="2125980"/>
            <a:ext cx="239054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Training &amp;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0050" y="2564892"/>
            <a:ext cx="239054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Check whether chats are stored, reviewed, or used to improve models.</a:t>
            </a:r>
          </a:p>
        </p:txBody>
      </p:sp>
      <p:pic>
        <p:nvPicPr>
          <p:cNvPr id="13" name="Picture 12" descr="visibility_5EA0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236" y="21259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78188" y="2125980"/>
            <a:ext cx="239054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Telemetry persists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8188" y="2564892"/>
            <a:ext cx="239054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Usage logs and account metadata can reveal more than the prompt.</a:t>
            </a:r>
          </a:p>
        </p:txBody>
      </p:sp>
      <p:pic>
        <p:nvPicPr>
          <p:cNvPr id="16" name="Picture 15" descr="warning_5EA0F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229100"/>
            <a:ext cx="502920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81912" y="4229100"/>
            <a:ext cx="239054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Prompt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4668012"/>
            <a:ext cx="239054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Untrusted content may steer tools toward exposed data.</a:t>
            </a:r>
          </a:p>
        </p:txBody>
      </p:sp>
      <p:pic>
        <p:nvPicPr>
          <p:cNvPr id="19" name="Picture 18" descr="lock_5EA0F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098" y="422910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80050" y="4229100"/>
            <a:ext cx="239054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Private alternatives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0050" y="4668012"/>
            <a:ext cx="239054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Use local Ollama models; isolate or air-gap systems for sensitive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38912"/>
            <a:ext cx="10545775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>
                <a:solidFill>
                  <a:srgbClr val="F2F5FA"/>
                </a:solidFill>
                <a:latin typeface="Vazirmatn"/>
                <a:ea typeface="Vazirmatn"/>
                <a:cs typeface="Vazirmatn"/>
              </a:rPr>
              <a:t>Next-Gen OSINT in the AI 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43584"/>
            <a:ext cx="594360" cy="45720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08176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AI makes cross-platform identity correlation faster—not inevitable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8A94A8"/>
                </a:solidFill>
                <a:latin typeface="Vazirmatn"/>
                <a:ea typeface="Vazirmatn"/>
                <a:cs typeface="Vazirmatn"/>
              </a:rPr>
              <a:t>9</a:t>
            </a:r>
          </a:p>
        </p:txBody>
      </p:sp>
      <p:sp>
        <p:nvSpPr>
          <p:cNvPr id="7" name="Oval 6"/>
          <p:cNvSpPr/>
          <p:nvPr/>
        </p:nvSpPr>
        <p:spPr>
          <a:xfrm>
            <a:off x="4545939" y="2679192"/>
            <a:ext cx="3099816" cy="3099816"/>
          </a:xfrm>
          <a:prstGeom prst="ellipse">
            <a:avLst/>
          </a:prstGeom>
          <a:noFill/>
          <a:ln w="19050">
            <a:solidFill>
              <a:srgbClr val="2A334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140299" y="3273552"/>
            <a:ext cx="1911096" cy="1911096"/>
          </a:xfrm>
          <a:prstGeom prst="ellipse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23179" y="3771900"/>
            <a:ext cx="15453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B0F18"/>
                </a:solidFill>
                <a:latin typeface="Vazirmatn"/>
                <a:ea typeface="Vazirmatn"/>
                <a:cs typeface="Vazirmatn"/>
              </a:rPr>
              <a:t>Correlation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8899" y="4274820"/>
            <a:ext cx="145389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0B0F18"/>
                </a:solidFill>
                <a:latin typeface="Vazirmatn"/>
                <a:ea typeface="Vazirmatn"/>
                <a:cs typeface="Vazirmatn"/>
              </a:rPr>
              <a:t>Small public clues can become a linked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69967" y="2148840"/>
            <a:ext cx="2651760" cy="1051560"/>
          </a:xfrm>
          <a:prstGeom prst="roundRect">
            <a:avLst>
              <a:gd name="adj" fmla="val 14000"/>
            </a:avLst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71135" y="2276856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0B0F18"/>
                </a:solidFill>
                <a:latin typeface="Vazirmatn"/>
                <a:ea typeface="Vazirmatn"/>
                <a:cs typeface="Vazirmatn"/>
              </a:rPr>
              <a:t>Face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1135" y="265176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0B0F18"/>
                </a:solidFill>
                <a:latin typeface="Vazirmatn"/>
                <a:ea typeface="Vazirmatn"/>
                <a:cs typeface="Vazirmatn"/>
              </a:rPr>
              <a:t>Search public images by face, e.g. PimEyes.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7657" y="3222960"/>
            <a:ext cx="2651760" cy="1051560"/>
          </a:xfrm>
          <a:prstGeom prst="roundRect">
            <a:avLst>
              <a:gd name="adj" fmla="val 14000"/>
            </a:avLst>
          </a:prstGeom>
          <a:solidFill>
            <a:srgbClr val="ADBF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8825" y="3350976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0141F"/>
                </a:solidFill>
                <a:latin typeface="Vazirmatn"/>
                <a:ea typeface="Vazirmatn"/>
                <a:cs typeface="Vazirmatn"/>
              </a:rPr>
              <a:t>Multimodal linking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8825" y="372588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0141F"/>
                </a:solidFill>
                <a:latin typeface="Vazirmatn"/>
                <a:ea typeface="Vazirmatn"/>
                <a:cs typeface="Vazirmatn"/>
              </a:rPr>
              <a:t>Photos, names, places and times reinforce each other.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58609" y="4960920"/>
            <a:ext cx="2651760" cy="1051560"/>
          </a:xfrm>
          <a:prstGeom prst="roundRect">
            <a:avLst>
              <a:gd name="adj" fmla="val 14000"/>
            </a:avLst>
          </a:prstGeom>
          <a:solidFill>
            <a:srgbClr val="BECC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59777" y="5088936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0141F"/>
                </a:solidFill>
                <a:latin typeface="Vazirmatn"/>
                <a:ea typeface="Vazirmatn"/>
                <a:cs typeface="Vazirmatn"/>
              </a:rPr>
              <a:t>AI stylometry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9777" y="546384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0141F"/>
                </a:solidFill>
                <a:latin typeface="Vazirmatn"/>
                <a:ea typeface="Vazirmatn"/>
                <a:cs typeface="Vazirmatn"/>
              </a:rPr>
              <a:t>Writing style can connect accounts; leads, not proof.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1325" y="4960920"/>
            <a:ext cx="2651760" cy="1051560"/>
          </a:xfrm>
          <a:prstGeom prst="roundRect">
            <a:avLst>
              <a:gd name="adj" fmla="val 14000"/>
            </a:avLst>
          </a:prstGeom>
          <a:solidFill>
            <a:srgbClr val="CFDA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82493" y="5088936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0141F"/>
                </a:solidFill>
                <a:latin typeface="Vazirmatn"/>
                <a:ea typeface="Vazirmatn"/>
                <a:cs typeface="Vazirmatn"/>
              </a:rPr>
              <a:t>Voice cloning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2493" y="546384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0141F"/>
                </a:solidFill>
                <a:latin typeface="Vazirmatn"/>
                <a:ea typeface="Vazirmatn"/>
                <a:cs typeface="Vazirmatn"/>
              </a:rPr>
              <a:t>Cloned voices demand verification through another channel.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2277" y="3222960"/>
            <a:ext cx="2651760" cy="1051560"/>
          </a:xfrm>
          <a:prstGeom prst="roundRect">
            <a:avLst>
              <a:gd name="adj" fmla="val 14000"/>
            </a:avLst>
          </a:prstGeom>
          <a:solidFill>
            <a:srgbClr val="E1E7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53445" y="3350976"/>
            <a:ext cx="224942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>
                <a:solidFill>
                  <a:srgbClr val="10141F"/>
                </a:solidFill>
                <a:latin typeface="Vazirmatn"/>
                <a:ea typeface="Vazirmatn"/>
                <a:cs typeface="Vazirmatn"/>
              </a:rPr>
              <a:t>Countermeasures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53445" y="3725880"/>
            <a:ext cx="22494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0141F"/>
                </a:solidFill>
                <a:latin typeface="Vazirmatn"/>
                <a:ea typeface="Vazirmatn"/>
                <a:cs typeface="Vazirmatn"/>
              </a:rPr>
              <a:t>Limit face/voice exposure; split personas; strip metadata.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D3038"/>
              </a:gs>
              <a:gs pos="100000">
                <a:srgbClr val="0B0F18"/>
              </a:gs>
            </a:gsLst>
            <a:lin ang="5400000" scaled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69319" y="4709160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01223" y="4709160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33127" y="4709160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65031" y="4709160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96935" y="4709160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85271" y="5093208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17175" y="5093208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549079" y="5093208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780983" y="5093208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69319" y="5477256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01223" y="5477256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933127" y="5477256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65031" y="5477256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96935" y="5477256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85271" y="5861304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317175" y="5861304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49079" y="5861304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780983" y="5861304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469319" y="6245352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701223" y="6245352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933127" y="6245352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65031" y="6245352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96935" y="6245352"/>
            <a:ext cx="82296" cy="82296"/>
          </a:xfrm>
          <a:prstGeom prst="ellipse">
            <a:avLst/>
          </a:prstGeom>
          <a:solidFill>
            <a:srgbClr val="9FB4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" y="1417320"/>
            <a:ext cx="868680" cy="73152"/>
          </a:xfrm>
          <a:prstGeom prst="rect">
            <a:avLst/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1874519"/>
            <a:ext cx="10545775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Behavior Beats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611880"/>
            <a:ext cx="83512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9FB4D8"/>
                </a:solidFill>
                <a:latin typeface="Vazirmatn"/>
                <a:ea typeface="Vazirmatn"/>
                <a:cs typeface="Vazirmatn"/>
              </a:rPr>
              <a:t>Privacy and OPSEC are habits—especially when AI makes correlation cheap.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754880"/>
            <a:ext cx="5486400" cy="530352"/>
          </a:xfrm>
          <a:prstGeom prst="roundRect">
            <a:avLst>
              <a:gd name="adj" fmla="val 50000"/>
            </a:avLst>
          </a:prstGeom>
          <a:solidFill>
            <a:srgbClr val="5EA0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754880"/>
            <a:ext cx="54864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B0F18"/>
                </a:solidFill>
                <a:latin typeface="Vazirmatn"/>
                <a:ea typeface="Vazirmatn"/>
                <a:cs typeface="Vazirmatn"/>
              </a:rPr>
              <a:t>Reduce one exposure. Verify, then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1495</Words>
  <Application>Microsoft Office PowerPoint</Application>
  <PresentationFormat>Widescreen</PresentationFormat>
  <Paragraphs>144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Vazirmatn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mr phenom</cp:lastModifiedBy>
  <cp:revision>2</cp:revision>
  <dcterms:created xsi:type="dcterms:W3CDTF">2013-01-27T09:14:16Z</dcterms:created>
  <dcterms:modified xsi:type="dcterms:W3CDTF">2026-10-07T13:57:27Z</dcterms:modified>
  <cp:category/>
</cp:coreProperties>
</file>